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12192000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500" y="-90"/>
      </p:cViewPr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theme" Target="theme/theme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transition spd="med">
    <p:fade/>
  </p:transition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med">
    <p:fade/>
  </p:transition>
  <p:txStyles>
    <p:titleStyle>
      <a:lvl1pPr algn="l">
        <a:defRPr sz="4400" b="1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otBar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LineT"/>
          <p:cNvSpPr/>
          <p:nvPr/>
        </p:nvSpPr>
        <p:spPr>
          <a:xfrm>
            <a:off x="1280160" y="1874520"/>
            <a:ext cx="96012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LineB"/>
          <p:cNvSpPr/>
          <p:nvPr/>
        </p:nvSpPr>
        <p:spPr>
          <a:xfrm>
            <a:off x="1280160" y="5074920"/>
            <a:ext cx="96012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ag"/>
          <p:cNvSpPr txBox="1"/>
          <p:nvPr/>
        </p:nvSpPr>
        <p:spPr>
          <a:xfrm>
            <a:off x="1280160" y="1417320"/>
            <a:ext cx="96012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2200" b="1" i="0" dirty="0">
                <a:solidFill>
                  <a:srgbClr val="D4AF37"/>
                </a:solidFill>
                <a:latin typeface="Calibri"/>
                <a:cs typeface="Calibri"/>
              </a:rPr>
              <a:t>INTER BRANCH • GRAMMAR QUIZ • 2026</a:t>
            </a:r>
          </a:p>
        </p:txBody>
      </p:sp>
      <p:sp>
        <p:nvSpPr>
          <p:cNvPr id="15" name="Title"/>
          <p:cNvSpPr txBox="1"/>
          <p:nvPr/>
        </p:nvSpPr>
        <p:spPr>
          <a:xfrm>
            <a:off x="457200" y="2057400"/>
            <a:ext cx="11277295" cy="15544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6000" b="1" i="0" dirty="0">
                <a:solidFill>
                  <a:srgbClr val="FFFFFF"/>
                </a:solidFill>
                <a:latin typeface="Calibri"/>
                <a:cs typeface="Calibri"/>
              </a:rPr>
              <a:t>Inter Branch English Grammar Quiz</a:t>
            </a:r>
          </a:p>
        </p:txBody>
      </p:sp>
      <p:sp>
        <p:nvSpPr>
          <p:cNvPr id="16" name="Sub"/>
          <p:cNvSpPr txBox="1"/>
          <p:nvPr/>
        </p:nvSpPr>
        <p:spPr>
          <a:xfrm>
            <a:off x="457200" y="3657600"/>
            <a:ext cx="11277295" cy="8229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4000" b="0" i="0" dirty="0">
                <a:solidFill>
                  <a:srgbClr val="F0D27A"/>
                </a:solidFill>
                <a:latin typeface="Calibri"/>
                <a:cs typeface="Calibri"/>
              </a:rPr>
              <a:t>Classes XI &amp; XII</a:t>
            </a:r>
          </a:p>
        </p:txBody>
      </p:sp>
      <p:sp>
        <p:nvSpPr>
          <p:cNvPr id="17" name="DateBand"/>
          <p:cNvSpPr/>
          <p:nvPr/>
        </p:nvSpPr>
        <p:spPr>
          <a:xfrm>
            <a:off x="4267505" y="4526280"/>
            <a:ext cx="3657600" cy="54864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Date"/>
          <p:cNvSpPr txBox="1"/>
          <p:nvPr/>
        </p:nvSpPr>
        <p:spPr>
          <a:xfrm>
            <a:off x="4267505" y="4526280"/>
            <a:ext cx="3657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2400" b="1" i="0" dirty="0">
                <a:solidFill>
                  <a:srgbClr val="081A3C"/>
                </a:solidFill>
                <a:latin typeface="Calibri"/>
                <a:cs typeface="Calibri"/>
              </a:rPr>
              <a:t>May 2026</a:t>
            </a:r>
          </a:p>
        </p:txBody>
      </p:sp>
      <p:sp>
        <p:nvSpPr>
          <p:cNvPr id="19" name="Foot"/>
          <p:cNvSpPr txBox="1"/>
          <p:nvPr/>
        </p:nvSpPr>
        <p:spPr>
          <a:xfrm>
            <a:off x="457200" y="6126480"/>
            <a:ext cx="11277295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600" b="0" i="0" dirty="0">
                <a:solidFill>
                  <a:srgbClr val="F5F7FB"/>
                </a:solidFill>
                <a:latin typeface="Calibri"/>
                <a:cs typeface="Calibri"/>
              </a:rPr>
              <a:t>Duration: 1 hour  •  5 Rounds  •  6 Teams per Class</a:t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Lb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1</a:t>
            </a:r>
          </a:p>
        </p:txBody>
      </p:sp>
      <p:sp>
        <p:nvSpPr>
          <p:cNvPr id="12" name="R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Present Tenses</a:t>
            </a:r>
          </a:p>
        </p:txBody>
      </p:sp>
      <p:sp>
        <p:nvSpPr>
          <p:cNvPr id="13" name="UL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1 / 5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Each of the players ______ rigorously ever since the new coach took charge.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(train)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Why ______ online classes over offline ones these days?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(prefer)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My uncle has worked in this organization for years, yet he ______ any promotion so far.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(not / receive)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She often reads novels, but today she ______ television.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(watch)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They ______ with the suppliers for several weeks now.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(negotiate)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I do not understand why he ______ so strangely these days.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(behave)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The teacher expects that students ______ their work punctually.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(submit)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By next week, the researchers ______ their findings.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(publish)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He ______ far more confident now.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(appear)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This machine ______ efficiently if it is maintained regularly.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(operate)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She has already completed the assignment, yet she ______ it again.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(revise)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1 — Present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She ______ for the competition for the last three months.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(prepare)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Lb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2</a:t>
            </a:r>
          </a:p>
        </p:txBody>
      </p:sp>
      <p:sp>
        <p:nvSpPr>
          <p:cNvPr id="12" name="R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Past Tenses</a:t>
            </a:r>
          </a:p>
        </p:txBody>
      </p:sp>
      <p:sp>
        <p:nvSpPr>
          <p:cNvPr id="13" name="UL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2 / 5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She ______ for the test before the teacher entered the class.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(prepare)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option: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Which sentence is in the Past Continuous Tense?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(a) They play football.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(b) They were playing football.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(c) They have played football.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(d) They will play football.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We ______ dinner when the guests arrived.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(have)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Identify the tense used in the sentence: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“The boys had completed their work before sunset.”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By the time the announcement was made, the audience ______ the hall.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(leave)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verb to complete the sentence: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If they ______ harder, they would have succeeded.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(try / tried / had tried)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Identify the tense used in the sentence: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“The manager had approved the proposal before the meeting ended.”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They ______ this shop for more than a decade before they shifted to another city.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(run)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She ______ for two hours before the train finally arrived.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(wait)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form of the verb: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She ______ the movie last night.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(see / saw / seen)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The students ______ loudly when the principal entered the classroom.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(talk)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2 — Past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option: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Which sentence is in the Past Perfect Continuous Tense?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(a) He was studying all night.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(b) He had been studying all night.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(c) He has studied all night.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(d) He studies all night.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Lb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3</a:t>
            </a:r>
          </a:p>
        </p:txBody>
      </p:sp>
      <p:sp>
        <p:nvSpPr>
          <p:cNvPr id="12" name="R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Future Tenses</a:t>
            </a:r>
          </a:p>
        </p:txBody>
      </p:sp>
      <p:sp>
        <p:nvSpPr>
          <p:cNvPr id="13" name="UL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3 / 5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By next year, she ______ her degree course.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(complete)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option: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Which sentence is in the Future Continuous Tense?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(a) He writes a letter.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(b) He will be writing a letter.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(c) He wrote a letter.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(d) He has written a letter.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Identify the tense used in the sentence: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“This time tomorrow, they will be travelling across the mountains.”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At 8 p.m. tonight, we ______ dinner.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(have)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Rewrite the sentence using the Future Perfect Continuous Tense: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“By next month, he will work here for five years.”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She ______ soon after the meeting ends.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(arrive)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By the end of this week, the workers ______ the project.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(finish)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option: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Which sentence is in the Future Perfect Tense?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(a) They will play cricket.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(b) They will be playing cricket.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(c) They will have played cricket.</a:t>
            </a:r>
          </a:p>
          <a:p>
            <a:pPr algn="l">
              <a:lnSpc>
                <a:spcPct val="120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◆  (d) They played cricket.</a:t>
            </a:r>
          </a:p>
        </p:txBody>
      </p:sp>
    </p:spTree>
  </p:cSld>
  <p:transition spd="med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Identify the tense used in the sentence: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“When you reach the station, the train will have already departed.”</a:t>
            </a:r>
          </a:p>
        </p:txBody>
      </p:sp>
    </p:spTree>
  </p:cSld>
  <p:transition spd="med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This time next week, she ______ for her examinations.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(prepare)</a:t>
            </a:r>
          </a:p>
        </p:txBody>
      </p:sp>
    </p:spTree>
  </p:cSld>
  <p:transition spd="med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Rewrite the sentence using the Future Perfect Tense: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“They will finish the investigation before the deadline.”</a:t>
            </a:r>
          </a:p>
        </p:txBody>
      </p:sp>
    </p:spTree>
  </p:cSld>
  <p:transition spd="med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3 — Future Tenses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 with the correct verb form: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By next month, he ______ in this company for ten years.</a:t>
            </a:r>
          </a:p>
          <a:p>
            <a:pPr algn="l">
              <a:lnSpc>
                <a:spcPct val="115000"/>
              </a:lnSpc>
            </a:pPr>
            <a:r>
              <a:rPr lang="en-US" sz="4800" b="1" i="1" dirty="0">
                <a:solidFill>
                  <a:srgbClr val="081A3C"/>
                </a:solidFill>
                <a:latin typeface="Calibri"/>
                <a:cs typeface="Calibri"/>
              </a:rPr>
              <a:t>(work)</a:t>
            </a:r>
          </a:p>
        </p:txBody>
      </p:sp>
    </p:spTree>
  </p:cSld>
  <p:transition spd="med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Lb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4</a:t>
            </a:r>
          </a:p>
        </p:txBody>
      </p:sp>
      <p:sp>
        <p:nvSpPr>
          <p:cNvPr id="12" name="R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Determiners</a:t>
            </a:r>
          </a:p>
        </p:txBody>
      </p:sp>
      <p:sp>
        <p:nvSpPr>
          <p:cNvPr id="13" name="UL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4 / 5</a:t>
            </a:r>
          </a:p>
        </p:txBody>
      </p:sp>
    </p:spTree>
  </p:cSld>
  <p:transition spd="med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______ student participated in the competition.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(Every / Much / Few)</a:t>
            </a:r>
          </a:p>
        </p:txBody>
      </p:sp>
    </p:spTree>
  </p:cSld>
  <p:transition spd="med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______ books belong to the library.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(Those / Little / Any)</a:t>
            </a:r>
          </a:p>
        </p:txBody>
      </p:sp>
    </p:spTree>
  </p:cSld>
  <p:transition spd="med" advClick="1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______ effort was made to resolve the conflict.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(Little / Many / Several)</a:t>
            </a:r>
          </a:p>
        </p:txBody>
      </p:sp>
    </p:spTree>
  </p:cSld>
  <p:transition spd="med" advClick="1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______ subject do you like the most?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(Which / Few / Much)</a:t>
            </a:r>
          </a:p>
        </p:txBody>
      </p:sp>
    </p:spTree>
  </p:cSld>
  <p:transition spd="med" advClick="1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______ applicants were shortlisted.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(Several / Much / Little)</a:t>
            </a:r>
          </a:p>
        </p:txBody>
      </p:sp>
    </p:spTree>
  </p:cSld>
  <p:transition spd="med" advClick="1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______ decision surprised everyone.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(Her / Many / Few)</a:t>
            </a:r>
          </a:p>
        </p:txBody>
      </p:sp>
    </p:spTree>
  </p:cSld>
  <p:transition spd="med" advClick="1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There isn’t ______ justification for such behaviour.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(much / many / several)</a:t>
            </a:r>
          </a:p>
        </p:txBody>
      </p:sp>
    </p:spTree>
  </p:cSld>
  <p:transition spd="med" advClick="1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He has ______ patience for careless mistakes.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(little / few / several)</a:t>
            </a:r>
          </a:p>
        </p:txBody>
      </p:sp>
    </p:spTree>
  </p:cSld>
  <p:transition spd="med" advClick="1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______ of the proposals were rejected unanimously.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(Most / Much / Each)</a:t>
            </a:r>
          </a:p>
        </p:txBody>
      </p:sp>
    </p:spTree>
  </p:cSld>
  <p:transition spd="med" advClick="1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She bought ______ pair of shoes.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(a / an / the)</a:t>
            </a:r>
          </a:p>
        </p:txBody>
      </p:sp>
    </p:spTree>
  </p:cSld>
  <p:transition spd="med" advClick="1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I don’t have ______ clarity regarding the policy.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(any / many / few)</a:t>
            </a:r>
          </a:p>
        </p:txBody>
      </p:sp>
    </p:spTree>
  </p:cSld>
  <p:transition spd="med" advClick="1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4 — Determiners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______ of the answers was correct.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(Each / Many / Few)</a:t>
            </a:r>
          </a:p>
        </p:txBody>
      </p:sp>
    </p:spTree>
  </p:cSld>
  <p:transition spd="med" advClick="1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Lbl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200" b="1" i="0" dirty="0">
                <a:solidFill>
                  <a:srgbClr val="D4AF37"/>
                </a:solidFill>
                <a:latin typeface="Calibri"/>
                <a:cs typeface="Calibri"/>
              </a:rPr>
              <a:t>ROUND 5</a:t>
            </a:r>
          </a:p>
        </p:txBody>
      </p:sp>
      <p:sp>
        <p:nvSpPr>
          <p:cNvPr id="12" name="RTitle"/>
          <p:cNvSpPr txBox="1"/>
          <p:nvPr/>
        </p:nvSpPr>
        <p:spPr>
          <a:xfrm>
            <a:off x="1097280" y="2606040"/>
            <a:ext cx="10058400" cy="14630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7200" b="1" i="0" dirty="0">
                <a:solidFill>
                  <a:srgbClr val="FFFFFF"/>
                </a:solidFill>
                <a:latin typeface="Calibri"/>
                <a:cs typeface="Calibri"/>
              </a:rPr>
              <a:t>Subject–Verb Agreement</a:t>
            </a:r>
          </a:p>
        </p:txBody>
      </p:sp>
      <p:sp>
        <p:nvSpPr>
          <p:cNvPr id="13" name="UL"/>
          <p:cNvSpPr/>
          <p:nvPr/>
        </p:nvSpPr>
        <p:spPr>
          <a:xfrm>
            <a:off x="1097280" y="4160520"/>
            <a:ext cx="320040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elp"/>
          <p:cNvSpPr txBox="1"/>
          <p:nvPr/>
        </p:nvSpPr>
        <p:spPr>
          <a:xfrm>
            <a:off x="1097280" y="4434840"/>
            <a:ext cx="10058400" cy="731520"/>
          </a:xfrm>
          <a:prstGeom prst="rect">
            <a:avLst/>
          </a:prstGeom>
          <a:noFill/>
        </p:spPr>
        <p:txBody>
          <a:bodyPr wrap="square" lIns="91440" tIns="91440" rIns="91440" bIns="9144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 → Teams A to F</a:t>
            </a:r>
          </a:p>
          <a:p>
            <a:pPr algn="l">
              <a:lnSpc>
                <a:spcPct val="110000"/>
              </a:lnSpc>
            </a:pPr>
            <a:r>
              <a:rPr lang="en-US" sz="2000" b="0" i="0" dirty="0">
                <a:solidFill>
                  <a:srgbClr val="F5F7FB"/>
                </a:solidFill>
                <a:latin typeface="Calibri"/>
                <a:cs typeface="Calibri"/>
              </a:rPr>
              <a:t>Class XII → Teams A to F</a:t>
            </a:r>
          </a:p>
        </p:txBody>
      </p:sp>
      <p:sp>
        <p:nvSpPr>
          <p:cNvPr id="15" name="Chip"/>
          <p:cNvSpPr/>
          <p:nvPr/>
        </p:nvSpPr>
        <p:spPr>
          <a:xfrm>
            <a:off x="10058400" y="6035040"/>
            <a:ext cx="1673352" cy="4572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ChipT"/>
          <p:cNvSpPr txBox="1"/>
          <p:nvPr/>
        </p:nvSpPr>
        <p:spPr>
          <a:xfrm>
            <a:off x="10058400" y="6035040"/>
            <a:ext cx="1673352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600" b="1" i="0" dirty="0">
                <a:solidFill>
                  <a:srgbClr val="081A3C"/>
                </a:solidFill>
                <a:latin typeface="Calibri"/>
                <a:cs typeface="Calibri"/>
              </a:rPr>
              <a:t>Round 5 / 5</a:t>
            </a:r>
          </a:p>
        </p:txBody>
      </p:sp>
    </p:spTree>
  </p:cSld>
  <p:transition spd="med" advClick="1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Either the principal or the senior teachers ___ responsible for implementing the decision.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(is / are / was)</a:t>
            </a:r>
          </a:p>
        </p:txBody>
      </p:sp>
    </p:spTree>
  </p:cSld>
  <p:transition spd="med" advClick="1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verb: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A group of tourists ___ visiting the museum.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(is / are / were)</a:t>
            </a:r>
          </a:p>
        </p:txBody>
      </p:sp>
    </p:spTree>
  </p:cSld>
  <p:transition spd="med" advClick="1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Every student, along with the mentors, ___ expected to attend the orientation.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(is / are / were)</a:t>
            </a:r>
          </a:p>
        </p:txBody>
      </p:sp>
    </p:spTree>
  </p:cSld>
  <p:transition spd="med" advClick="1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verb: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Neither the manager nor the employees ___ satisfied with the decision.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(is / are / was)</a:t>
            </a:r>
          </a:p>
        </p:txBody>
      </p:sp>
    </p:spTree>
  </p:cSld>
  <p:transition spd="med" advClick="1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The furniture, including the chairs and tables, ___ damaged during transit.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(was / were / are)</a:t>
            </a:r>
          </a:p>
        </p:txBody>
      </p:sp>
    </p:spTree>
  </p:cSld>
  <p:transition spd="med" advClick="1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One of the boys ___ selected for the team.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(has / have / had)</a:t>
            </a:r>
          </a:p>
        </p:txBody>
      </p:sp>
    </p:spTree>
  </p:cSld>
  <p:transition spd="med" advClick="1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A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Politics, along with economics, ___ his favourite subject.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(is / are / were)</a:t>
            </a:r>
          </a:p>
        </p:txBody>
      </p:sp>
    </p:spTree>
  </p:cSld>
  <p:transition spd="med" advClick="1"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B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verb: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Both the author and the editor ___ present at the launch.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(is / are / was)</a:t>
            </a:r>
          </a:p>
        </p:txBody>
      </p:sp>
    </p:spTree>
  </p:cSld>
  <p:transition spd="med" advClick="1"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C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The jury, as well as the witnesses, ___ examined thoroughly.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(has / have / had)</a:t>
            </a:r>
          </a:p>
        </p:txBody>
      </p:sp>
    </p:spTree>
  </p:cSld>
  <p:transition spd="med" advClick="1"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D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Choose the correct verb: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Bread and butter ___ my usual breakfast.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(is / are / were)</a:t>
            </a:r>
          </a:p>
        </p:txBody>
      </p:sp>
    </p:spTree>
  </p:cSld>
  <p:transition spd="med" advClick="1"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E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A chain of bookstores ___ recently expanded across the country.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(has / have / had)</a:t>
            </a:r>
          </a:p>
        </p:txBody>
      </p:sp>
    </p:spTree>
  </p:cSld>
  <p:transition spd="med" advClick="1"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Band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1A3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HAcc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HLeft"/>
          <p:cNvSpPr txBox="1"/>
          <p:nvPr/>
        </p:nvSpPr>
        <p:spPr>
          <a:xfrm>
            <a:off x="365760" y="109728"/>
            <a:ext cx="777240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Round 5 — Subject–Verb Agreement</a:t>
            </a:r>
          </a:p>
        </p:txBody>
      </p:sp>
      <p:sp>
        <p:nvSpPr>
          <p:cNvPr id="13" name="CChip"/>
          <p:cNvSpPr/>
          <p:nvPr/>
        </p:nvSpPr>
        <p:spPr>
          <a:xfrm>
            <a:off x="8686800" y="164592"/>
            <a:ext cx="3108960" cy="59436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ChipT"/>
          <p:cNvSpPr txBox="1"/>
          <p:nvPr/>
        </p:nvSpPr>
        <p:spPr>
          <a:xfrm>
            <a:off x="8686800" y="164592"/>
            <a:ext cx="3108960" cy="59436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Class XII</a:t>
            </a:r>
          </a:p>
        </p:txBody>
      </p:sp>
      <p:sp>
        <p:nvSpPr>
          <p:cNvPr id="15" name="SubH"/>
          <p:cNvSpPr/>
          <p:nvPr/>
        </p:nvSpPr>
        <p:spPr>
          <a:xfrm>
            <a:off x="0" y="978408"/>
            <a:ext cx="12191695" cy="640080"/>
          </a:xfrm>
          <a:prstGeom prst="rect">
            <a:avLst/>
          </a:prstGeom>
          <a:solidFill>
            <a:srgbClr val="052F6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am"/>
          <p:cNvSpPr txBox="1"/>
          <p:nvPr/>
        </p:nvSpPr>
        <p:spPr>
          <a:xfrm>
            <a:off x="365760" y="1024128"/>
            <a:ext cx="594360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en-US" sz="3600" b="1" i="0" dirty="0">
                <a:solidFill>
                  <a:srgbClr val="FFFFFF"/>
                </a:solidFill>
                <a:latin typeface="Calibri"/>
                <a:cs typeface="Calibri"/>
              </a:rPr>
              <a:t>Team F</a:t>
            </a:r>
          </a:p>
        </p:txBody>
      </p:sp>
      <p:sp>
        <p:nvSpPr>
          <p:cNvPr id="17" name="QNum"/>
          <p:cNvSpPr txBox="1"/>
          <p:nvPr/>
        </p:nvSpPr>
        <p:spPr>
          <a:xfrm>
            <a:off x="6217920" y="1024128"/>
            <a:ext cx="5577840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r">
              <a:lnSpc>
                <a:spcPct val="110000"/>
              </a:lnSpc>
            </a:pPr>
            <a:r>
              <a:rPr lang="en-US" sz="3600" b="1" i="0" dirty="0">
                <a:solidFill>
                  <a:srgbClr val="D4AF37"/>
                </a:solidFill>
                <a:latin typeface="Calibri"/>
                <a:cs typeface="Calibri"/>
              </a:rPr>
              <a:t>Question 1</a:t>
            </a:r>
          </a:p>
        </p:txBody>
      </p:sp>
      <p:sp>
        <p:nvSpPr>
          <p:cNvPr id="18" name="QCard"/>
          <p:cNvSpPr/>
          <p:nvPr/>
        </p:nvSpPr>
        <p:spPr>
          <a:xfrm>
            <a:off x="320040" y="1691640"/>
            <a:ext cx="11539728" cy="5074920"/>
          </a:xfrm>
          <a:prstGeom prst="roundRect">
            <a:avLst>
              <a:gd name="adj" fmla="val 16667"/>
            </a:avLst>
          </a:prstGeom>
          <a:solidFill>
            <a:srgbClr val="C7EA94"/>
          </a:solidFill>
          <a:ln w="19050">
            <a:solidFill>
              <a:srgbClr val="D4AF37"/>
            </a:solidFill>
          </a:ln>
        </p:spPr>
        <p:txBody>
          <a:bodyPr/>
          <a:lstStyle/>
          <a:p/>
        </p:txBody>
      </p:sp>
      <p:sp>
        <p:nvSpPr>
          <p:cNvPr id="19" name="QBdg"/>
          <p:cNvSpPr/>
          <p:nvPr/>
        </p:nvSpPr>
        <p:spPr>
          <a:xfrm>
            <a:off x="548640" y="1920240"/>
            <a:ext cx="731520" cy="73152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QBdgT"/>
          <p:cNvSpPr txBox="1"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600" b="1" i="0" dirty="0">
                <a:solidFill>
                  <a:srgbClr val="081A3C"/>
                </a:solidFill>
                <a:latin typeface="Calibri"/>
                <a:cs typeface="Calibri"/>
              </a:rPr>
              <a:t>Q</a:t>
            </a:r>
          </a:p>
        </p:txBody>
      </p:sp>
      <p:sp>
        <p:nvSpPr>
          <p:cNvPr id="21" name="QContent"/>
          <p:cNvSpPr txBox="1"/>
          <p:nvPr/>
        </p:nvSpPr>
        <p:spPr>
          <a:xfrm>
            <a:off x="1508760" y="1920240"/>
            <a:ext cx="10076688" cy="4709160"/>
          </a:xfrm>
          <a:prstGeom prst="rect">
            <a:avLst/>
          </a:prstGeom>
          <a:noFill/>
        </p:spPr>
        <p:txBody>
          <a:bodyPr wrap="square" lIns="137160" tIns="137160" rIns="137160" bIns="13716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B1B3A"/>
                </a:solidFill>
                <a:latin typeface="Calibri"/>
                <a:cs typeface="Calibri"/>
              </a:rPr>
              <a:t>Fill in the blank:</a:t>
            </a:r>
          </a:p>
          <a:p>
            <a:pPr algn="l">
              <a:lnSpc>
                <a:spcPct val="115000"/>
              </a:lnSpc>
            </a:pPr>
            <a:r>
              <a:rPr lang="en-US" sz="4800" b="1" i="0" dirty="0">
                <a:solidFill>
                  <a:srgbClr val="0B1B3A"/>
                </a:solidFill>
                <a:latin typeface="Calibri"/>
                <a:cs typeface="Calibri"/>
              </a:rPr>
              <a:t>Neither the teacher nor the students ___ ready for the test.</a:t>
            </a:r>
          </a:p>
          <a:p>
            <a:pPr algn="l">
              <a:lnSpc>
                <a:spcPct val="115000"/>
              </a:lnSpc>
            </a:pPr>
            <a:r>
              <a:rPr lang="en-US" sz="4000" b="1" i="0" dirty="0">
                <a:solidFill>
                  <a:srgbClr val="081A3C"/>
                </a:solidFill>
                <a:latin typeface="Calibri"/>
                <a:cs typeface="Calibri"/>
              </a:rPr>
              <a:t>Options: (is / are / was)</a:t>
            </a:r>
          </a:p>
        </p:txBody>
      </p:sp>
    </p:spTree>
  </p:cSld>
  <p:transition spd="med" advClick="1"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2A5C"/>
            </a:gs>
            <a:gs pos="100000">
              <a:srgbClr val="081A3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otBar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Dia"/>
          <p:cNvSpPr txBox="1"/>
          <p:nvPr/>
        </p:nvSpPr>
        <p:spPr>
          <a:xfrm>
            <a:off x="457200" y="1463040"/>
            <a:ext cx="11277295" cy="54864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2400" b="0" i="0" dirty="0">
                <a:solidFill>
                  <a:srgbClr val="D4AF37"/>
                </a:solidFill>
                <a:latin typeface="Calibri"/>
                <a:cs typeface="Calibri"/>
              </a:rPr>
              <a:t>◆   ◆   ◆</a:t>
            </a:r>
          </a:p>
        </p:txBody>
      </p:sp>
      <p:sp>
        <p:nvSpPr>
          <p:cNvPr id="13" name="TY"/>
          <p:cNvSpPr txBox="1"/>
          <p:nvPr/>
        </p:nvSpPr>
        <p:spPr>
          <a:xfrm>
            <a:off x="457200" y="2194560"/>
            <a:ext cx="11277295" cy="18288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1000" b="1" i="0" dirty="0">
                <a:solidFill>
                  <a:srgbClr val="FFFFFF"/>
                </a:solidFill>
                <a:latin typeface="Calibri"/>
                <a:cs typeface="Calibri"/>
              </a:rPr>
              <a:t>Thank You</a:t>
            </a:r>
          </a:p>
        </p:txBody>
      </p:sp>
      <p:sp>
        <p:nvSpPr>
          <p:cNvPr id="14" name="Sub"/>
          <p:cNvSpPr txBox="1"/>
          <p:nvPr/>
        </p:nvSpPr>
        <p:spPr>
          <a:xfrm>
            <a:off x="457200" y="4206240"/>
            <a:ext cx="11277295" cy="64008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2800" b="0" i="0" dirty="0">
                <a:solidFill>
                  <a:srgbClr val="F0D27A"/>
                </a:solidFill>
                <a:latin typeface="Calibri"/>
                <a:cs typeface="Calibri"/>
              </a:rPr>
              <a:t>For your enthusiastic participation</a:t>
            </a:r>
          </a:p>
        </p:txBody>
      </p:sp>
      <p:sp>
        <p:nvSpPr>
          <p:cNvPr id="15" name="Bot"/>
          <p:cNvSpPr txBox="1"/>
          <p:nvPr/>
        </p:nvSpPr>
        <p:spPr>
          <a:xfrm>
            <a:off x="457200" y="5120640"/>
            <a:ext cx="11277295" cy="457200"/>
          </a:xfrm>
          <a:prstGeom prst="rect">
            <a:avLst/>
          </a:prstGeom>
          <a:noFill/>
        </p:spPr>
        <p:txBody>
          <a:bodyPr wrap="square" lIns="91440" tIns="91440" rIns="91440" bIns="9144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800" b="0" i="0" dirty="0">
                <a:solidFill>
                  <a:srgbClr val="F5F7FB"/>
                </a:solidFill>
                <a:latin typeface="Calibri"/>
                <a:cs typeface="Calibri"/>
              </a:rPr>
              <a:t>Inter Branch English Grammar Quiz • May 2026</a:t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Quiz">
  <a:themeElements>
    <a:clrScheme name="Q">
      <a:dk1>
        <a:srgbClr val="0B1B3A"/>
      </a:dk1>
      <a:lt1>
        <a:srgbClr val="FFFFFF"/>
      </a:lt1>
      <a:dk2>
        <a:srgbClr val="0F2A5C"/>
      </a:dk2>
      <a:lt2>
        <a:srgbClr val="F5F7FB"/>
      </a:lt2>
      <a:accent1>
        <a:srgbClr val="D4AF37"/>
      </a:accent1>
      <a:accent2>
        <a:srgbClr val="081A3C"/>
      </a:accent2>
      <a:accent3>
        <a:srgbClr val="F0D27A"/>
      </a:accent3>
      <a:accent4>
        <a:srgbClr val="2C4A7E"/>
      </a:accent4>
      <a:accent5>
        <a:srgbClr val="B0883E"/>
      </a:accent5>
      <a:accent6>
        <a:srgbClr val="DCE3F2"/>
      </a:accent6>
      <a:hlink>
        <a:srgbClr val="D4AF37"/>
      </a:hlink>
      <a:folHlink>
        <a:srgbClr val="B0883E"/>
      </a:folHlink>
    </a:clrScheme>
    <a:fontScheme name="Q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Q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Kiro</Application>
  <Slides>67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Inter Branch English Grammar Quiz</dc:title>
  <dc:creator>Quiz Master</dc:creator>
  <dcterms:created xsi:type="dcterms:W3CDTF">2026-05-01T09:00:00Z</dcterms:created>
  <dcterms:modified xsi:type="dcterms:W3CDTF">2026-05-01T09:00:00Z</dcterms:modified>
</cp:coreProperties>
</file>