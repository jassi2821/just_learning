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500" y="-90"/>
      </p:cViewPr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theme" Target="theme/theme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med">
    <p:fade/>
  </p:transition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>
    <p:fade/>
  </p:transition>
  <p:txStyles>
    <p:titleStyle>
      <a:lvl1pPr algn="l">
        <a:defRPr sz="4400" b="1">
          <a:solidFill>
            <a:srgbClr val="0F2A5C"/>
          </a:solidFill>
          <a:latin typeface="Calibri"/>
        </a:defRPr>
      </a:lvl1pPr>
    </p:titleStyle>
    <p:bodyStyle>
      <a:lvl1pPr>
        <a:defRPr sz="2400">
          <a:solidFill>
            <a:srgbClr val="0B1B3A"/>
          </a:solidFill>
          <a:latin typeface="Calibri"/>
        </a:defRPr>
      </a:lvl1pPr>
      <a:lvl2pPr>
        <a:defRPr sz="2000">
          <a:solidFill>
            <a:srgbClr val="0B1B3A"/>
          </a:solidFill>
          <a:latin typeface="Calibri"/>
        </a:defRPr>
      </a:lvl2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A5C"/>
            </a:gs>
            <a:gs pos="100000">
              <a:srgbClr val="081A3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ottomBar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LineTop"/>
          <p:cNvSpPr/>
          <p:nvPr/>
        </p:nvSpPr>
        <p:spPr>
          <a:xfrm>
            <a:off x="1280160" y="1874520"/>
            <a:ext cx="9601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LineBot"/>
          <p:cNvSpPr/>
          <p:nvPr/>
        </p:nvSpPr>
        <p:spPr>
          <a:xfrm>
            <a:off x="1280160" y="5074920"/>
            <a:ext cx="96012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agline"/>
          <p:cNvSpPr txBox="1"/>
          <p:nvPr/>
        </p:nvSpPr>
        <p:spPr>
          <a:xfrm>
            <a:off x="1280160" y="1417320"/>
            <a:ext cx="96012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i="0" dirty="0">
                <a:solidFill>
                  <a:srgbClr val="D4AF37"/>
                </a:solidFill>
                <a:latin typeface="Calibri"/>
                <a:cs typeface="Calibri"/>
              </a:rPr>
              <a:t>INTER BRANCH • GRAMMAR QUIZ • 2026</a:t>
            </a:r>
          </a:p>
        </p:txBody>
      </p:sp>
      <p:sp>
        <p:nvSpPr>
          <p:cNvPr id="15" name="MainTitle"/>
          <p:cNvSpPr txBox="1"/>
          <p:nvPr/>
        </p:nvSpPr>
        <p:spPr>
          <a:xfrm>
            <a:off x="457200" y="2057400"/>
            <a:ext cx="11277295" cy="15544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i="0" dirty="0">
                <a:solidFill>
                  <a:srgbClr val="FFFFFF"/>
                </a:solidFill>
                <a:latin typeface="Calibri"/>
                <a:cs typeface="Calibri"/>
              </a:rPr>
              <a:t>Inter Branch English Grammar Quiz</a:t>
            </a:r>
          </a:p>
        </p:txBody>
      </p:sp>
      <p:sp>
        <p:nvSpPr>
          <p:cNvPr id="16" name="Subtitle"/>
          <p:cNvSpPr txBox="1"/>
          <p:nvPr/>
        </p:nvSpPr>
        <p:spPr>
          <a:xfrm>
            <a:off x="457200" y="3657600"/>
            <a:ext cx="11277295" cy="8229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i="0" dirty="0">
                <a:solidFill>
                  <a:srgbClr val="F0D27A"/>
                </a:solidFill>
                <a:latin typeface="Calibri"/>
                <a:cs typeface="Calibri"/>
              </a:rPr>
              <a:t>Classes XI &amp; XII</a:t>
            </a:r>
          </a:p>
        </p:txBody>
      </p:sp>
      <p:sp>
        <p:nvSpPr>
          <p:cNvPr id="17" name="DateBand"/>
          <p:cNvSpPr/>
          <p:nvPr/>
        </p:nvSpPr>
        <p:spPr>
          <a:xfrm>
            <a:off x="4267505" y="452628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DateLabel"/>
          <p:cNvSpPr txBox="1"/>
          <p:nvPr/>
        </p:nvSpPr>
        <p:spPr>
          <a:xfrm>
            <a:off x="4267505" y="4526280"/>
            <a:ext cx="3657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May 2026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i="0" dirty="0">
                <a:solidFill>
                  <a:srgbClr val="F5F7FB"/>
                </a:solidFill>
                <a:latin typeface="Calibri"/>
                <a:cs typeface="Calibri"/>
              </a:rPr>
              <a:t>Duration: 1 hour  •  5 Rounds  •  6 Teams per Class</a:t>
            </a:r>
          </a:p>
        </p:txBody>
      </p:sp>
    </p:spTree>
  </p:cSld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A5C"/>
            </a:gs>
            <a:gs pos="100000">
              <a:srgbClr val="081A3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Label"/>
          <p:cNvSpPr txBox="1"/>
          <p:nvPr/>
        </p:nvSpPr>
        <p:spPr>
          <a:xfrm>
            <a:off x="1097280" y="1920240"/>
            <a:ext cx="10058400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i="0" dirty="0">
                <a:solidFill>
                  <a:srgbClr val="D4AF37"/>
                </a:solidFill>
                <a:latin typeface="Calibri"/>
                <a:cs typeface="Calibri"/>
              </a:rPr>
              <a:t>ROUND 1</a:t>
            </a:r>
          </a:p>
        </p:txBody>
      </p:sp>
      <p:sp>
        <p:nvSpPr>
          <p:cNvPr id="12" name="RoundTitle"/>
          <p:cNvSpPr txBox="1"/>
          <p:nvPr/>
        </p:nvSpPr>
        <p:spPr>
          <a:xfrm>
            <a:off x="1097280" y="2606040"/>
            <a:ext cx="10058400" cy="14630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7200" b="1" i="0" dirty="0">
                <a:solidFill>
                  <a:srgbClr val="FFFFFF"/>
                </a:solidFill>
                <a:latin typeface="Calibri"/>
                <a:cs typeface="Calibri"/>
              </a:rPr>
              <a:t>Present Tenses</a:t>
            </a:r>
          </a:p>
        </p:txBody>
      </p:sp>
      <p:sp>
        <p:nvSpPr>
          <p:cNvPr id="13" name="Underline"/>
          <p:cNvSpPr/>
          <p:nvPr/>
        </p:nvSpPr>
        <p:spPr>
          <a:xfrm>
            <a:off x="1097280" y="4160520"/>
            <a:ext cx="32004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Helper"/>
          <p:cNvSpPr txBox="1"/>
          <p:nvPr/>
        </p:nvSpPr>
        <p:spPr>
          <a:xfrm>
            <a:off x="1097280" y="4434840"/>
            <a:ext cx="10058400" cy="7315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 → Teams A to F</a:t>
            </a:r>
          </a:p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XII → Teams A to F</a:t>
            </a:r>
          </a:p>
        </p:txBody>
      </p:sp>
      <p:sp>
        <p:nvSpPr>
          <p:cNvPr id="15" name="Chip"/>
          <p:cNvSpPr/>
          <p:nvPr/>
        </p:nvSpPr>
        <p:spPr>
          <a:xfrm>
            <a:off x="10058400" y="6035040"/>
            <a:ext cx="1673352" cy="45720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hipText"/>
          <p:cNvSpPr txBox="1"/>
          <p:nvPr/>
        </p:nvSpPr>
        <p:spPr>
          <a:xfrm>
            <a:off x="10058400" y="6035040"/>
            <a:ext cx="1673352" cy="45720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081A3C"/>
                </a:solidFill>
                <a:latin typeface="Calibri"/>
                <a:cs typeface="Calibri"/>
              </a:rPr>
              <a:t>Round 1 / 5</a:t>
            </a:r>
          </a:p>
        </p:txBody>
      </p:sp>
    </p:spTree>
  </p:cSld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Each of the players ______ rigorously ever since the new coach took charge.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(train)</a:t>
            </a:r>
          </a:p>
        </p:txBody>
      </p:sp>
    </p:spTree>
  </p:cSld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Why ______ online classes over offline ones these days?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(prefer)</a:t>
            </a:r>
          </a:p>
        </p:txBody>
      </p:sp>
    </p:spTree>
  </p:cSld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My uncle has worked in this organization for years, yet he ______ any promotion so far.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(not / receive)</a:t>
            </a:r>
          </a:p>
        </p:txBody>
      </p:sp>
    </p:spTree>
  </p:cSld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She often reads novels, but today she ______ television.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(watch)</a:t>
            </a:r>
          </a:p>
        </p:txBody>
      </p:sp>
    </p:spTree>
  </p:cSld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They ______ with the suppliers for several weeks now.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(negotiate)</a:t>
            </a:r>
          </a:p>
        </p:txBody>
      </p:sp>
    </p:spTree>
  </p:cSld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I do not understand why he ______ so strangely these days.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(behave)</a:t>
            </a:r>
          </a:p>
        </p:txBody>
      </p:sp>
    </p:spTree>
  </p:cSld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The teacher expects that students ______ their work punctually.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(submit)</a:t>
            </a:r>
          </a:p>
        </p:txBody>
      </p:sp>
    </p:spTree>
  </p:cSld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By next week, the researchers ______ their findings.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(publish)</a:t>
            </a:r>
          </a:p>
        </p:txBody>
      </p:sp>
    </p:spTree>
  </p:cSld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He ______ far more confident now.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(appear)</a:t>
            </a:r>
          </a:p>
        </p:txBody>
      </p:sp>
    </p:spTree>
  </p:cSld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This machine ______ efficiently if it is maintained regularly.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(operate)</a:t>
            </a:r>
          </a:p>
        </p:txBody>
      </p:sp>
    </p:spTree>
  </p:cSld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She has already completed the assignment, yet she ______ it again.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(revise)</a:t>
            </a:r>
          </a:p>
        </p:txBody>
      </p:sp>
    </p:spTree>
  </p:cSld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1 — Present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She ______ for the competition for the last three months.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(prepare)</a:t>
            </a:r>
          </a:p>
        </p:txBody>
      </p:sp>
    </p:spTree>
  </p:cSld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A5C"/>
            </a:gs>
            <a:gs pos="100000">
              <a:srgbClr val="081A3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Label"/>
          <p:cNvSpPr txBox="1"/>
          <p:nvPr/>
        </p:nvSpPr>
        <p:spPr>
          <a:xfrm>
            <a:off x="1097280" y="1920240"/>
            <a:ext cx="10058400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i="0" dirty="0">
                <a:solidFill>
                  <a:srgbClr val="D4AF37"/>
                </a:solidFill>
                <a:latin typeface="Calibri"/>
                <a:cs typeface="Calibri"/>
              </a:rPr>
              <a:t>ROUND 2</a:t>
            </a:r>
          </a:p>
        </p:txBody>
      </p:sp>
      <p:sp>
        <p:nvSpPr>
          <p:cNvPr id="12" name="RoundTitle"/>
          <p:cNvSpPr txBox="1"/>
          <p:nvPr/>
        </p:nvSpPr>
        <p:spPr>
          <a:xfrm>
            <a:off x="1097280" y="2606040"/>
            <a:ext cx="10058400" cy="14630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7200" b="1" i="0" dirty="0">
                <a:solidFill>
                  <a:srgbClr val="FFFFFF"/>
                </a:solidFill>
                <a:latin typeface="Calibri"/>
                <a:cs typeface="Calibri"/>
              </a:rPr>
              <a:t>Past Tenses</a:t>
            </a:r>
          </a:p>
        </p:txBody>
      </p:sp>
      <p:sp>
        <p:nvSpPr>
          <p:cNvPr id="13" name="Underline"/>
          <p:cNvSpPr/>
          <p:nvPr/>
        </p:nvSpPr>
        <p:spPr>
          <a:xfrm>
            <a:off x="1097280" y="4160520"/>
            <a:ext cx="32004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Helper"/>
          <p:cNvSpPr txBox="1"/>
          <p:nvPr/>
        </p:nvSpPr>
        <p:spPr>
          <a:xfrm>
            <a:off x="1097280" y="4434840"/>
            <a:ext cx="10058400" cy="7315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 → Teams A to F</a:t>
            </a:r>
          </a:p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XII → Teams A to F</a:t>
            </a:r>
          </a:p>
        </p:txBody>
      </p:sp>
      <p:sp>
        <p:nvSpPr>
          <p:cNvPr id="15" name="Chip"/>
          <p:cNvSpPr/>
          <p:nvPr/>
        </p:nvSpPr>
        <p:spPr>
          <a:xfrm>
            <a:off x="10058400" y="6035040"/>
            <a:ext cx="1673352" cy="45720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hipText"/>
          <p:cNvSpPr txBox="1"/>
          <p:nvPr/>
        </p:nvSpPr>
        <p:spPr>
          <a:xfrm>
            <a:off x="10058400" y="6035040"/>
            <a:ext cx="1673352" cy="45720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081A3C"/>
                </a:solidFill>
                <a:latin typeface="Calibri"/>
                <a:cs typeface="Calibri"/>
              </a:rPr>
              <a:t>Round 2 / 5</a:t>
            </a:r>
          </a:p>
        </p:txBody>
      </p:sp>
    </p:spTree>
  </p:cSld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She ______ for the test before the teacher entered the class.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(prepare)</a:t>
            </a:r>
          </a:p>
        </p:txBody>
      </p:sp>
    </p:spTree>
  </p:cSld>
  <p:transition spd="med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Which sentence is in the Past Continuous Tense?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(a) They play football.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(b) They were playing football.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(c) They have played football.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(d) They will play football.</a:t>
            </a:r>
          </a:p>
        </p:txBody>
      </p:sp>
    </p:spTree>
  </p:cSld>
  <p:transition spd="med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We ______ dinner when the guests arrived.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(have)</a:t>
            </a:r>
          </a:p>
        </p:txBody>
      </p:sp>
    </p:spTree>
  </p:cSld>
  <p:transition spd="med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3108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Identify the tense used in the sentence:</a:t>
            </a:r>
          </a:p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“The boys had completed their work before sunset.”</a:t>
            </a:r>
          </a:p>
        </p:txBody>
      </p:sp>
    </p:spTree>
  </p:cSld>
  <p:transition spd="med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By the time the announcement was made, the audience ______ the hall.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(leave)</a:t>
            </a:r>
          </a:p>
        </p:txBody>
      </p:sp>
    </p:spTree>
  </p:cSld>
  <p:transition spd="med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If they ______ harder, they would have succeeded.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try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tried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had tried</a:t>
            </a:r>
          </a:p>
        </p:txBody>
      </p:sp>
    </p:spTree>
  </p:cSld>
  <p:transition spd="med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3108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Identify the tense used in the sentence:</a:t>
            </a:r>
          </a:p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“The manager had approved the proposal before the meeting ended.”</a:t>
            </a:r>
          </a:p>
        </p:txBody>
      </p:sp>
    </p:spTree>
  </p:cSld>
  <p:transition spd="med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They ______ this shop for more than a decade before they shifted to another city.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(run)</a:t>
            </a:r>
          </a:p>
        </p:txBody>
      </p:sp>
    </p:spTree>
  </p:cSld>
  <p:transition spd="med" advClick="1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She ______ for two hours before the train finally arrived.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(wait)</a:t>
            </a:r>
          </a:p>
        </p:txBody>
      </p:sp>
    </p:spTree>
  </p:cSld>
  <p:transition spd="med" advClick="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She ______ the movie last night.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see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saw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seen</a:t>
            </a:r>
          </a:p>
        </p:txBody>
      </p:sp>
    </p:spTree>
  </p:cSld>
  <p:transition spd="med" advClick="1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The students ______ loudly when the principal entered the classroom.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(talk)</a:t>
            </a:r>
          </a:p>
        </p:txBody>
      </p:sp>
    </p:spTree>
  </p:cSld>
  <p:transition spd="med" advClick="1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2 — Past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Which sentence is in the Past Perfect Continuous Tense?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(a) He was studying all night.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(b) He had been studying all night.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(c) He has studied all night.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(d) He studies all night.</a:t>
            </a:r>
          </a:p>
        </p:txBody>
      </p:sp>
    </p:spTree>
  </p:cSld>
  <p:transition spd="med" advClick="1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A5C"/>
            </a:gs>
            <a:gs pos="100000">
              <a:srgbClr val="081A3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Label"/>
          <p:cNvSpPr txBox="1"/>
          <p:nvPr/>
        </p:nvSpPr>
        <p:spPr>
          <a:xfrm>
            <a:off x="1097280" y="1920240"/>
            <a:ext cx="10058400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i="0" dirty="0">
                <a:solidFill>
                  <a:srgbClr val="D4AF37"/>
                </a:solidFill>
                <a:latin typeface="Calibri"/>
                <a:cs typeface="Calibri"/>
              </a:rPr>
              <a:t>ROUND 3</a:t>
            </a:r>
          </a:p>
        </p:txBody>
      </p:sp>
      <p:sp>
        <p:nvSpPr>
          <p:cNvPr id="12" name="RoundTitle"/>
          <p:cNvSpPr txBox="1"/>
          <p:nvPr/>
        </p:nvSpPr>
        <p:spPr>
          <a:xfrm>
            <a:off x="1097280" y="2606040"/>
            <a:ext cx="10058400" cy="14630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7200" b="1" i="0" dirty="0">
                <a:solidFill>
                  <a:srgbClr val="FFFFFF"/>
                </a:solidFill>
                <a:latin typeface="Calibri"/>
                <a:cs typeface="Calibri"/>
              </a:rPr>
              <a:t>Future Tenses</a:t>
            </a:r>
          </a:p>
        </p:txBody>
      </p:sp>
      <p:sp>
        <p:nvSpPr>
          <p:cNvPr id="13" name="Underline"/>
          <p:cNvSpPr/>
          <p:nvPr/>
        </p:nvSpPr>
        <p:spPr>
          <a:xfrm>
            <a:off x="1097280" y="4160520"/>
            <a:ext cx="32004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Helper"/>
          <p:cNvSpPr txBox="1"/>
          <p:nvPr/>
        </p:nvSpPr>
        <p:spPr>
          <a:xfrm>
            <a:off x="1097280" y="4434840"/>
            <a:ext cx="10058400" cy="7315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 → Teams A to F</a:t>
            </a:r>
          </a:p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XII → Teams A to F</a:t>
            </a:r>
          </a:p>
        </p:txBody>
      </p:sp>
      <p:sp>
        <p:nvSpPr>
          <p:cNvPr id="15" name="Chip"/>
          <p:cNvSpPr/>
          <p:nvPr/>
        </p:nvSpPr>
        <p:spPr>
          <a:xfrm>
            <a:off x="10058400" y="6035040"/>
            <a:ext cx="1673352" cy="45720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hipText"/>
          <p:cNvSpPr txBox="1"/>
          <p:nvPr/>
        </p:nvSpPr>
        <p:spPr>
          <a:xfrm>
            <a:off x="10058400" y="6035040"/>
            <a:ext cx="1673352" cy="45720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081A3C"/>
                </a:solidFill>
                <a:latin typeface="Calibri"/>
                <a:cs typeface="Calibri"/>
              </a:rPr>
              <a:t>Round 3 / 5</a:t>
            </a:r>
          </a:p>
        </p:txBody>
      </p:sp>
    </p:spTree>
  </p:cSld>
  <p:transition spd="med" advClick="1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By next year, she ______ her degree course.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(complete)</a:t>
            </a:r>
          </a:p>
        </p:txBody>
      </p:sp>
    </p:spTree>
  </p:cSld>
  <p:transition spd="med" advClick="1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Which sentence is in the Future Continuous Tense?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(a) He writes a letter.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(b) He will be writing a letter.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(c) He wrote a letter.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(d) He has written a letter.</a:t>
            </a:r>
          </a:p>
        </p:txBody>
      </p:sp>
    </p:spTree>
  </p:cSld>
  <p:transition spd="med" advClick="1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3108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Identify the tense used in the sentence:</a:t>
            </a:r>
          </a:p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“This time tomorrow, they will be travelling across the mountains.”</a:t>
            </a:r>
          </a:p>
        </p:txBody>
      </p:sp>
    </p:spTree>
  </p:cSld>
  <p:transition spd="med" advClick="1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At 8 p.m. tonight, we ______ dinner.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(have)</a:t>
            </a:r>
          </a:p>
        </p:txBody>
      </p:sp>
    </p:spTree>
  </p:cSld>
  <p:transition spd="med" advClick="1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3108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Rewrite the sentence using the Future Perfect Continuous Tense:</a:t>
            </a:r>
          </a:p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“By next month, he will work here for five years.”</a:t>
            </a:r>
          </a:p>
        </p:txBody>
      </p:sp>
    </p:spTree>
  </p:cSld>
  <p:transition spd="med" advClick="1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She ______ soon after the meeting ends.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(arrive)</a:t>
            </a:r>
          </a:p>
        </p:txBody>
      </p:sp>
    </p:spTree>
  </p:cSld>
  <p:transition spd="med" advClick="1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By the end of this week, the workers ______ the project.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(finish)</a:t>
            </a:r>
          </a:p>
        </p:txBody>
      </p:sp>
    </p:spTree>
  </p:cSld>
  <p:transition spd="med" advClick="1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Which sentence is in the Future Perfect Tense?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(a) They will play cricket.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(b) They will be playing cricket.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(c) They will have played cricket.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(d) They played cricket.</a:t>
            </a:r>
          </a:p>
        </p:txBody>
      </p:sp>
    </p:spTree>
  </p:cSld>
  <p:transition spd="med" advClick="1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3108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Identify the tense used in the sentence:</a:t>
            </a:r>
          </a:p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“When you reach the station, the train will have already departed.”</a:t>
            </a:r>
          </a:p>
        </p:txBody>
      </p:sp>
    </p:spTree>
  </p:cSld>
  <p:transition spd="med" advClick="1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This time next week, she ______ for her examinations.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(prepare)</a:t>
            </a:r>
          </a:p>
        </p:txBody>
      </p:sp>
    </p:spTree>
  </p:cSld>
  <p:transition spd="med" advClick="1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3108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Rewrite the sentence using the Future Perfect Tense:</a:t>
            </a:r>
          </a:p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“They will finish the investigation before the deadline.”</a:t>
            </a:r>
          </a:p>
        </p:txBody>
      </p:sp>
    </p:spTree>
  </p:cSld>
  <p:transition spd="med" advClick="1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3 — Future Tenses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5603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By next month, he ______ in this company for ten years.</a:t>
            </a:r>
          </a:p>
        </p:txBody>
      </p:sp>
      <p:sp>
        <p:nvSpPr>
          <p:cNvPr id="22" name="QHint"/>
          <p:cNvSpPr txBox="1"/>
          <p:nvPr/>
        </p:nvSpPr>
        <p:spPr>
          <a:xfrm>
            <a:off x="1645920" y="4617720"/>
            <a:ext cx="9905695" cy="6400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1" dirty="0">
                <a:solidFill>
                  <a:srgbClr val="081A3C"/>
                </a:solidFill>
                <a:latin typeface="Calibri"/>
                <a:cs typeface="Calibri"/>
              </a:rPr>
              <a:t>(work)</a:t>
            </a:r>
          </a:p>
        </p:txBody>
      </p:sp>
    </p:spTree>
  </p:cSld>
  <p:transition spd="med" advClick="1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A5C"/>
            </a:gs>
            <a:gs pos="100000">
              <a:srgbClr val="081A3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Label"/>
          <p:cNvSpPr txBox="1"/>
          <p:nvPr/>
        </p:nvSpPr>
        <p:spPr>
          <a:xfrm>
            <a:off x="1097280" y="1920240"/>
            <a:ext cx="10058400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i="0" dirty="0">
                <a:solidFill>
                  <a:srgbClr val="D4AF37"/>
                </a:solidFill>
                <a:latin typeface="Calibri"/>
                <a:cs typeface="Calibri"/>
              </a:rPr>
              <a:t>ROUND 4</a:t>
            </a:r>
          </a:p>
        </p:txBody>
      </p:sp>
      <p:sp>
        <p:nvSpPr>
          <p:cNvPr id="12" name="RoundTitle"/>
          <p:cNvSpPr txBox="1"/>
          <p:nvPr/>
        </p:nvSpPr>
        <p:spPr>
          <a:xfrm>
            <a:off x="1097280" y="2606040"/>
            <a:ext cx="10058400" cy="14630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7200" b="1" i="0" dirty="0">
                <a:solidFill>
                  <a:srgbClr val="FFFFFF"/>
                </a:solidFill>
                <a:latin typeface="Calibri"/>
                <a:cs typeface="Calibri"/>
              </a:rPr>
              <a:t>Determiners</a:t>
            </a:r>
          </a:p>
        </p:txBody>
      </p:sp>
      <p:sp>
        <p:nvSpPr>
          <p:cNvPr id="13" name="Underline"/>
          <p:cNvSpPr/>
          <p:nvPr/>
        </p:nvSpPr>
        <p:spPr>
          <a:xfrm>
            <a:off x="1097280" y="4160520"/>
            <a:ext cx="32004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Helper"/>
          <p:cNvSpPr txBox="1"/>
          <p:nvPr/>
        </p:nvSpPr>
        <p:spPr>
          <a:xfrm>
            <a:off x="1097280" y="4434840"/>
            <a:ext cx="10058400" cy="7315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 → Teams A to F</a:t>
            </a:r>
          </a:p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XII → Teams A to F</a:t>
            </a:r>
          </a:p>
        </p:txBody>
      </p:sp>
      <p:sp>
        <p:nvSpPr>
          <p:cNvPr id="15" name="Chip"/>
          <p:cNvSpPr/>
          <p:nvPr/>
        </p:nvSpPr>
        <p:spPr>
          <a:xfrm>
            <a:off x="10058400" y="6035040"/>
            <a:ext cx="1673352" cy="45720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hipText"/>
          <p:cNvSpPr txBox="1"/>
          <p:nvPr/>
        </p:nvSpPr>
        <p:spPr>
          <a:xfrm>
            <a:off x="10058400" y="6035040"/>
            <a:ext cx="1673352" cy="45720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081A3C"/>
                </a:solidFill>
                <a:latin typeface="Calibri"/>
                <a:cs typeface="Calibri"/>
              </a:rPr>
              <a:t>Round 4 / 5</a:t>
            </a:r>
          </a:p>
        </p:txBody>
      </p:sp>
    </p:spTree>
  </p:cSld>
  <p:transition spd="med" advClick="1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______ student participated in the competition.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Every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Much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Few</a:t>
            </a:r>
          </a:p>
        </p:txBody>
      </p:sp>
    </p:spTree>
  </p:cSld>
  <p:transition spd="med" advClick="1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______ books belong to the library.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Those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Little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Any</a:t>
            </a:r>
          </a:p>
        </p:txBody>
      </p:sp>
    </p:spTree>
  </p:cSld>
  <p:transition spd="med" advClick="1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______ effort was made to resolve the conflict.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Little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Many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Several</a:t>
            </a:r>
          </a:p>
        </p:txBody>
      </p:sp>
    </p:spTree>
  </p:cSld>
  <p:transition spd="med" advClick="1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______ subject do you like the most?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Which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Few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Much</a:t>
            </a:r>
          </a:p>
        </p:txBody>
      </p:sp>
    </p:spTree>
  </p:cSld>
  <p:transition spd="med" advClick="1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______ applicants were shortlisted.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Several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Much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Little</a:t>
            </a:r>
          </a:p>
        </p:txBody>
      </p:sp>
    </p:spTree>
  </p:cSld>
  <p:transition spd="med" advClick="1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______ decision surprised everyone.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Her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Many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Few</a:t>
            </a:r>
          </a:p>
        </p:txBody>
      </p:sp>
    </p:spTree>
  </p:cSld>
  <p:transition spd="med" advClick="1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There isn’t ______ justification for such behaviour.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much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many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several</a:t>
            </a:r>
          </a:p>
        </p:txBody>
      </p:sp>
    </p:spTree>
  </p:cSld>
  <p:transition spd="med" advClick="1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He has ______ patience for careless mistakes.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little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few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several</a:t>
            </a:r>
          </a:p>
        </p:txBody>
      </p:sp>
    </p:spTree>
  </p:cSld>
  <p:transition spd="med" advClick="1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______ of the proposals were rejected unanimously.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Most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Much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Each</a:t>
            </a:r>
          </a:p>
        </p:txBody>
      </p:sp>
    </p:spTree>
  </p:cSld>
  <p:transition spd="med" advClick="1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She bought ______ pair of shoes.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an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the</a:t>
            </a:r>
          </a:p>
        </p:txBody>
      </p:sp>
    </p:spTree>
  </p:cSld>
  <p:transition spd="med" advClick="1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I don’t have ______ clarity regarding the policy.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any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many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few</a:t>
            </a:r>
          </a:p>
        </p:txBody>
      </p:sp>
    </p:spTree>
  </p:cSld>
  <p:transition spd="med" advClick="1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4 — Determiners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______ of the answers was correct.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Each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Many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Few</a:t>
            </a:r>
          </a:p>
        </p:txBody>
      </p:sp>
    </p:spTree>
  </p:cSld>
  <p:transition spd="med" advClick="1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A5C"/>
            </a:gs>
            <a:gs pos="100000">
              <a:srgbClr val="081A3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Label"/>
          <p:cNvSpPr txBox="1"/>
          <p:nvPr/>
        </p:nvSpPr>
        <p:spPr>
          <a:xfrm>
            <a:off x="1097280" y="1920240"/>
            <a:ext cx="10058400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i="0" dirty="0">
                <a:solidFill>
                  <a:srgbClr val="D4AF37"/>
                </a:solidFill>
                <a:latin typeface="Calibri"/>
                <a:cs typeface="Calibri"/>
              </a:rPr>
              <a:t>ROUND 5</a:t>
            </a:r>
          </a:p>
        </p:txBody>
      </p:sp>
      <p:sp>
        <p:nvSpPr>
          <p:cNvPr id="12" name="RoundTitle"/>
          <p:cNvSpPr txBox="1"/>
          <p:nvPr/>
        </p:nvSpPr>
        <p:spPr>
          <a:xfrm>
            <a:off x="1097280" y="2606040"/>
            <a:ext cx="10058400" cy="14630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7200" b="1" i="0" dirty="0">
                <a:solidFill>
                  <a:srgbClr val="FFFFFF"/>
                </a:solidFill>
                <a:latin typeface="Calibri"/>
                <a:cs typeface="Calibri"/>
              </a:rPr>
              <a:t>Subject–Verb Agreement</a:t>
            </a:r>
          </a:p>
        </p:txBody>
      </p:sp>
      <p:sp>
        <p:nvSpPr>
          <p:cNvPr id="13" name="Underline"/>
          <p:cNvSpPr/>
          <p:nvPr/>
        </p:nvSpPr>
        <p:spPr>
          <a:xfrm>
            <a:off x="1097280" y="4160520"/>
            <a:ext cx="32004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Helper"/>
          <p:cNvSpPr txBox="1"/>
          <p:nvPr/>
        </p:nvSpPr>
        <p:spPr>
          <a:xfrm>
            <a:off x="1097280" y="4434840"/>
            <a:ext cx="10058400" cy="73152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 → Teams A to F</a:t>
            </a:r>
          </a:p>
          <a:p>
            <a:pPr algn="l">
              <a:lnSpc>
                <a:spcPct val="120000"/>
              </a:lnSpc>
            </a:pPr>
            <a:r>
              <a:rPr lang="en-US" sz="2000" b="0" i="0" dirty="0">
                <a:solidFill>
                  <a:srgbClr val="F5F7FB"/>
                </a:solidFill>
                <a:latin typeface="Calibri"/>
                <a:cs typeface="Calibri"/>
              </a:rPr>
              <a:t>Class XII → Teams A to F</a:t>
            </a:r>
          </a:p>
        </p:txBody>
      </p:sp>
      <p:sp>
        <p:nvSpPr>
          <p:cNvPr id="15" name="Chip"/>
          <p:cNvSpPr/>
          <p:nvPr/>
        </p:nvSpPr>
        <p:spPr>
          <a:xfrm>
            <a:off x="10058400" y="6035040"/>
            <a:ext cx="1673352" cy="45720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hipText"/>
          <p:cNvSpPr txBox="1"/>
          <p:nvPr/>
        </p:nvSpPr>
        <p:spPr>
          <a:xfrm>
            <a:off x="10058400" y="6035040"/>
            <a:ext cx="1673352" cy="45720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081A3C"/>
                </a:solidFill>
                <a:latin typeface="Calibri"/>
                <a:cs typeface="Calibri"/>
              </a:rPr>
              <a:t>Round 5 / 5</a:t>
            </a:r>
          </a:p>
        </p:txBody>
      </p:sp>
    </p:spTree>
  </p:cSld>
  <p:transition spd="med" advClick="1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Either the principal or the senior teachers ___ responsible for implementing the decision.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is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are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was</a:t>
            </a:r>
          </a:p>
        </p:txBody>
      </p:sp>
    </p:spTree>
  </p:cSld>
  <p:transition spd="med" advClick="1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A group of tourists ___ visiting the museum.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is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are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were</a:t>
            </a:r>
          </a:p>
        </p:txBody>
      </p:sp>
    </p:spTree>
  </p:cSld>
  <p:transition spd="med" advClick="1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Every student, along with the mentors, ___ expected to attend the orientation.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is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are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were</a:t>
            </a:r>
          </a:p>
        </p:txBody>
      </p:sp>
    </p:spTree>
  </p:cSld>
  <p:transition spd="med" advClick="1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Neither the manager nor the employees ___ satisfied with the decision.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is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are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was</a:t>
            </a:r>
          </a:p>
        </p:txBody>
      </p:sp>
    </p:spTree>
  </p:cSld>
  <p:transition spd="med" advClick="1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The furniture, including the chairs and tables, ___ damaged during transit.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was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were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are</a:t>
            </a:r>
          </a:p>
        </p:txBody>
      </p:sp>
    </p:spTree>
  </p:cSld>
  <p:transition spd="med" advClick="1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One of the boys ___ selected for the team.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have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had</a:t>
            </a:r>
          </a:p>
        </p:txBody>
      </p:sp>
    </p:spTree>
  </p:cSld>
  <p:transition spd="med" advClick="1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A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Politics, along with economics, ___ his favourite subject.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is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are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were</a:t>
            </a:r>
          </a:p>
        </p:txBody>
      </p:sp>
    </p:spTree>
  </p:cSld>
  <p:transition spd="med" advClick="1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B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Both the author and the editor ___ present at the launch.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is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are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was</a:t>
            </a:r>
          </a:p>
        </p:txBody>
      </p:sp>
    </p:spTree>
  </p:cSld>
  <p:transition spd="med" advClick="1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C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The jury, as well as the witnesses, ___ examined thoroughly.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have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had</a:t>
            </a:r>
          </a:p>
        </p:txBody>
      </p:sp>
    </p:spTree>
  </p:cSld>
  <p:transition spd="med" advClick="1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D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Bread and butter ___ my usual breakfast.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is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are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were</a:t>
            </a:r>
          </a:p>
        </p:txBody>
      </p:sp>
    </p:spTree>
  </p:cSld>
  <p:transition spd="med" advClick="1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E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A chain of bookstores ___ recently expanded across the country.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have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had</a:t>
            </a:r>
          </a:p>
        </p:txBody>
      </p:sp>
    </p:spTree>
  </p:cSld>
  <p:transition spd="med" advClick="1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nd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81A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HeaderAccent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HeaderLeft"/>
          <p:cNvSpPr txBox="1"/>
          <p:nvPr/>
        </p:nvSpPr>
        <p:spPr>
          <a:xfrm>
            <a:off x="457200" y="137160"/>
            <a:ext cx="7772400" cy="73152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Round 5 — Subject–Verb Agreement</a:t>
            </a:r>
          </a:p>
        </p:txBody>
      </p:sp>
      <p:sp>
        <p:nvSpPr>
          <p:cNvPr id="13" name="ClassChip"/>
          <p:cNvSpPr/>
          <p:nvPr/>
        </p:nvSpPr>
        <p:spPr>
          <a:xfrm>
            <a:off x="8686800" y="201168"/>
            <a:ext cx="3108960" cy="59436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lassChipText"/>
          <p:cNvSpPr txBox="1"/>
          <p:nvPr/>
        </p:nvSpPr>
        <p:spPr>
          <a:xfrm>
            <a:off x="8686800" y="201168"/>
            <a:ext cx="3108960" cy="59436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i="0" dirty="0">
                <a:solidFill>
                  <a:srgbClr val="081A3C"/>
                </a:solidFill>
                <a:latin typeface="Calibri"/>
                <a:cs typeface="Calibri"/>
              </a:rPr>
              <a:t>Class XII</a:t>
            </a:r>
          </a:p>
        </p:txBody>
      </p:sp>
      <p:sp>
        <p:nvSpPr>
          <p:cNvPr id="15" name="SubHeader"/>
          <p:cNvSpPr/>
          <p:nvPr/>
        </p:nvSpPr>
        <p:spPr>
          <a:xfrm>
            <a:off x="0" y="1033272"/>
            <a:ext cx="12191695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amLabel"/>
          <p:cNvSpPr txBox="1"/>
          <p:nvPr/>
        </p:nvSpPr>
        <p:spPr>
          <a:xfrm>
            <a:off x="457200" y="1078992"/>
            <a:ext cx="59436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F2A5C"/>
                </a:solidFill>
                <a:latin typeface="Calibri"/>
                <a:cs typeface="Calibri"/>
              </a:rPr>
              <a:t>Team F</a:t>
            </a:r>
          </a:p>
        </p:txBody>
      </p:sp>
      <p:sp>
        <p:nvSpPr>
          <p:cNvPr id="17" name="QnumLabel"/>
          <p:cNvSpPr txBox="1"/>
          <p:nvPr/>
        </p:nvSpPr>
        <p:spPr>
          <a:xfrm>
            <a:off x="6217920" y="1078992"/>
            <a:ext cx="5486400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i="0" dirty="0">
                <a:solidFill>
                  <a:srgbClr val="D4AF37"/>
                </a:solidFill>
                <a:latin typeface="Calibri"/>
                <a:cs typeface="Calibri"/>
              </a:rPr>
              <a:t>Question 1</a:t>
            </a:r>
          </a:p>
        </p:txBody>
      </p:sp>
      <p:sp>
        <p:nvSpPr>
          <p:cNvPr id="18" name="QCard"/>
          <p:cNvSpPr/>
          <p:nvPr/>
        </p:nvSpPr>
        <p:spPr>
          <a:xfrm>
            <a:off x="365760" y="1783080"/>
            <a:ext cx="11460175" cy="4892040"/>
          </a:xfrm>
          <a:prstGeom prst="roundRect">
            <a:avLst>
              <a:gd name="adj" fmla="val 16667"/>
            </a:avLst>
          </a:prstGeom>
          <a:solidFill>
            <a:srgbClr val="C7EA94"/>
          </a:solidFill>
          <a:ln w="19050">
            <a:solidFill>
              <a:srgbClr val="D4AF37"/>
            </a:solidFill>
          </a:ln>
        </p:spPr>
        <p:txBody>
          <a:bodyPr/>
          <a:lstStyle/>
          <a:p/>
        </p:txBody>
      </p:sp>
      <p:sp>
        <p:nvSpPr>
          <p:cNvPr id="19" name="QBadge"/>
          <p:cNvSpPr/>
          <p:nvPr/>
        </p:nvSpPr>
        <p:spPr>
          <a:xfrm>
            <a:off x="640080" y="2057400"/>
            <a:ext cx="777240" cy="777240"/>
          </a:xfrm>
          <a:prstGeom prst="roundRect">
            <a:avLst>
              <a:gd name="adj" fmla="val 16667"/>
            </a:avLst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QBadgeText"/>
          <p:cNvSpPr txBox="1"/>
          <p:nvPr/>
        </p:nvSpPr>
        <p:spPr>
          <a:xfrm>
            <a:off x="640080" y="2057400"/>
            <a:ext cx="777240" cy="7772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i="0" dirty="0">
                <a:solidFill>
                  <a:srgbClr val="081A3C"/>
                </a:solidFill>
                <a:latin typeface="Calibri"/>
                <a:cs typeface="Calibri"/>
              </a:rPr>
              <a:t>Q</a:t>
            </a:r>
          </a:p>
        </p:txBody>
      </p:sp>
      <p:sp>
        <p:nvSpPr>
          <p:cNvPr id="21" name="QuestionText"/>
          <p:cNvSpPr txBox="1"/>
          <p:nvPr/>
        </p:nvSpPr>
        <p:spPr>
          <a:xfrm>
            <a:off x="1645920" y="2057400"/>
            <a:ext cx="9905695" cy="201168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Neither the teacher nor the students ___ ready for the test.</a:t>
            </a:r>
          </a:p>
        </p:txBody>
      </p:sp>
      <p:sp>
        <p:nvSpPr>
          <p:cNvPr id="23" name="OptHeading"/>
          <p:cNvSpPr txBox="1"/>
          <p:nvPr/>
        </p:nvSpPr>
        <p:spPr>
          <a:xfrm>
            <a:off x="1645920" y="4069080"/>
            <a:ext cx="9905695" cy="45720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081A3C"/>
                </a:solidFill>
                <a:latin typeface="Calibri"/>
                <a:cs typeface="Calibri"/>
              </a:rPr>
              <a:t>Options</a:t>
            </a:r>
          </a:p>
        </p:txBody>
      </p:sp>
      <p:sp>
        <p:nvSpPr>
          <p:cNvPr id="24" name="OptList"/>
          <p:cNvSpPr txBox="1"/>
          <p:nvPr/>
        </p:nvSpPr>
        <p:spPr>
          <a:xfrm>
            <a:off x="1645920" y="4526280"/>
            <a:ext cx="9905695" cy="1965960"/>
          </a:xfrm>
          <a:prstGeom prst="rect">
            <a:avLst/>
          </a:prstGeom>
          <a:noFill/>
        </p:spPr>
        <p:txBody>
          <a:bodyPr wrap="square" lIns="91440" tIns="91440" rIns="91440" bIns="9144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is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are</a:t>
            </a:r>
          </a:p>
          <a:p>
            <a:pPr algn="l">
              <a:lnSpc>
                <a:spcPct val="120000"/>
              </a:lnSpc>
            </a:pPr>
            <a:r>
              <a:rPr lang="en-US" sz="4800" b="1" i="0" dirty="0">
                <a:solidFill>
                  <a:srgbClr val="0B1B3A"/>
                </a:solidFill>
                <a:latin typeface="Calibri"/>
                <a:cs typeface="Calibri"/>
              </a:rPr>
              <a:t>◆  was</a:t>
            </a:r>
          </a:p>
        </p:txBody>
      </p:sp>
    </p:spTree>
  </p:cSld>
  <p:transition spd="med" advClick="1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2A5C"/>
            </a:gs>
            <a:gs pos="100000">
              <a:srgbClr val="081A3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ottomBar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Diamonds"/>
          <p:cNvSpPr txBox="1"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i="0" dirty="0">
                <a:solidFill>
                  <a:srgbClr val="D4AF37"/>
                </a:solidFill>
                <a:latin typeface="Calibri"/>
                <a:cs typeface="Calibri"/>
              </a:rPr>
              <a:t>◆   ◆   ◆</a:t>
            </a:r>
          </a:p>
        </p:txBody>
      </p:sp>
      <p:sp>
        <p:nvSpPr>
          <p:cNvPr id="13" name="ThankYou"/>
          <p:cNvSpPr txBox="1"/>
          <p:nvPr/>
        </p:nvSpPr>
        <p:spPr>
          <a:xfrm>
            <a:off x="457200" y="2194560"/>
            <a:ext cx="11277295" cy="182880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1000" b="1" i="0" dirty="0">
                <a:solidFill>
                  <a:srgbClr val="FFFFFF"/>
                </a:solidFill>
                <a:latin typeface="Calibri"/>
                <a:cs typeface="Calibri"/>
              </a:rPr>
              <a:t>Thank You</a:t>
            </a:r>
          </a:p>
        </p:txBody>
      </p:sp>
      <p:sp>
        <p:nvSpPr>
          <p:cNvPr id="14" name="SubLine"/>
          <p:cNvSpPr txBox="1"/>
          <p:nvPr/>
        </p:nvSpPr>
        <p:spPr>
          <a:xfrm>
            <a:off x="457200" y="4206240"/>
            <a:ext cx="11277295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0" i="0" dirty="0">
                <a:solidFill>
                  <a:srgbClr val="F0D27A"/>
                </a:solidFill>
                <a:latin typeface="Calibri"/>
                <a:cs typeface="Calibri"/>
              </a:rPr>
              <a:t>For your enthusiastic participation</a:t>
            </a:r>
          </a:p>
        </p:txBody>
      </p:sp>
      <p:sp>
        <p:nvSpPr>
          <p:cNvPr id="15" name="BottomLine"/>
          <p:cNvSpPr txBox="1"/>
          <p:nvPr/>
        </p:nvSpPr>
        <p:spPr>
          <a:xfrm>
            <a:off x="457200" y="5120640"/>
            <a:ext cx="11277295" cy="45720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i="0" dirty="0">
                <a:solidFill>
                  <a:srgbClr val="F5F7FB"/>
                </a:solidFill>
                <a:latin typeface="Calibri"/>
                <a:cs typeface="Calibri"/>
              </a:rPr>
              <a:t>Inter Branch English Grammar Quiz • May 2026</a:t>
            </a:r>
          </a:p>
        </p:txBody>
      </p:sp>
    </p:spTree>
  </p:cSld>
  <p:transition spd="med" advClick="1">
    <p:fade/>
  </p:transition>
</p:sld>
</file>

<file path=ppt/theme/theme1.xml><?xml version="1.0" encoding="utf-8"?>
<a:theme xmlns:a="http://schemas.openxmlformats.org/drawingml/2006/main" name="Quiz Show">
  <a:themeElements>
    <a:clrScheme name="Quiz Show">
      <a:dk1>
        <a:srgbClr val="0B1B3A"/>
      </a:dk1>
      <a:lt1>
        <a:srgbClr val="FFFFFF"/>
      </a:lt1>
      <a:dk2>
        <a:srgbClr val="0F2A5C"/>
      </a:dk2>
      <a:lt2>
        <a:srgbClr val="F5F7FB"/>
      </a:lt2>
      <a:accent1>
        <a:srgbClr val="D4AF37"/>
      </a:accent1>
      <a:accent2>
        <a:srgbClr val="081A3C"/>
      </a:accent2>
      <a:accent3>
        <a:srgbClr val="F0D27A"/>
      </a:accent3>
      <a:accent4>
        <a:srgbClr val="2C4A7E"/>
      </a:accent4>
      <a:accent5>
        <a:srgbClr val="B0883E"/>
      </a:accent5>
      <a:accent6>
        <a:srgbClr val="DCE3F2"/>
      </a:accent6>
      <a:hlink>
        <a:srgbClr val="D4AF37"/>
      </a:hlink>
      <a:folHlink>
        <a:srgbClr val="B0883E"/>
      </a:folHlink>
    </a:clrScheme>
    <a:fontScheme name="Quiz Show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Quiz Sho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Kiro PPTX Builder</Application>
  <Slides>67</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Inter Branch English Grammar Quiz</dc:title>
  <dc:creator>Quiz Master</dc:creator>
  <cp:lastModifiedBy>Quiz Master</cp:lastModifiedBy>
  <dcterms:created xsi:type="dcterms:W3CDTF">2026-05-01T09:00:00Z</dcterms:created>
  <dcterms:modified xsi:type="dcterms:W3CDTF">2026-05-01T09:00:00Z</dcterms:modified>
</cp:coreProperties>
</file>